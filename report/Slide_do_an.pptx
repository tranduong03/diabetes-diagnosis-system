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Fraunces Medium"/>
      <p:regular r:id="rId18"/>
    </p:embeddedFont>
    <p:embeddedFont>
      <p:font typeface="Fraunces Medium"/>
      <p:regular r:id="rId19"/>
    </p:embeddedFont>
    <p:embeddedFont>
      <p:font typeface="Fraunces Medium"/>
      <p:regular r:id="rId20"/>
    </p:embeddedFont>
    <p:embeddedFont>
      <p:font typeface="Fraunces Medium"/>
      <p:regular r:id="rId21"/>
    </p:embeddedFont>
    <p:embeddedFont>
      <p:font typeface="Epilogue"/>
      <p:regular r:id="rId22"/>
    </p:embeddedFont>
    <p:embeddedFont>
      <p:font typeface="Epilogue"/>
      <p:regular r:id="rId23"/>
    </p:embeddedFont>
    <p:embeddedFont>
      <p:font typeface="Epilogue"/>
      <p:regular r:id="rId24"/>
    </p:embeddedFont>
    <p:embeddedFont>
      <p:font typeface="Epilogue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1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Ứng dụng Thuật toán Phân loại Nhị phân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29439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Dự đoán Nguy cơ Mắc bệnh Tiểu đường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6404253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7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9237" y="439341"/>
            <a:ext cx="3195757" cy="399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Nhóm Thực hiện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59237" y="1018461"/>
            <a:ext cx="8025527" cy="1575078"/>
          </a:xfrm>
          <a:prstGeom prst="roundRect">
            <a:avLst>
              <a:gd name="adj" fmla="val 4261"/>
            </a:avLst>
          </a:prstGeom>
          <a:solidFill>
            <a:srgbClr val="283157"/>
          </a:solidFill>
          <a:ln w="7620">
            <a:solidFill>
              <a:srgbClr val="8C98C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6638" y="1185863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8C98C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41" y="1290757"/>
            <a:ext cx="215622" cy="2695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638" y="1824990"/>
            <a:ext cx="2288738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Trần Nguyễn Phi Dương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26638" y="2170509"/>
            <a:ext cx="769072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6351071014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59237" y="2753320"/>
            <a:ext cx="8025527" cy="1575078"/>
          </a:xfrm>
          <a:prstGeom prst="roundRect">
            <a:avLst>
              <a:gd name="adj" fmla="val 4261"/>
            </a:avLst>
          </a:prstGeom>
          <a:solidFill>
            <a:srgbClr val="283157"/>
          </a:solidFill>
          <a:ln w="7620">
            <a:solidFill>
              <a:srgbClr val="8C98C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26638" y="2920722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8C98C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41" y="3025616"/>
            <a:ext cx="215622" cy="2695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6638" y="3559850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Trần Quân Bảo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26638" y="3905369"/>
            <a:ext cx="769072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6351071005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59237" y="4488180"/>
            <a:ext cx="8025527" cy="1575078"/>
          </a:xfrm>
          <a:prstGeom prst="roundRect">
            <a:avLst>
              <a:gd name="adj" fmla="val 4261"/>
            </a:avLst>
          </a:prstGeom>
          <a:solidFill>
            <a:srgbClr val="283157"/>
          </a:solidFill>
          <a:ln w="7620">
            <a:solidFill>
              <a:srgbClr val="8C98C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26638" y="4655582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8C98C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41" y="4760476"/>
            <a:ext cx="215622" cy="2695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6638" y="5294709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Huỳnh Thiên Huy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26638" y="5640229"/>
            <a:ext cx="769072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6351071028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59237" y="6223040"/>
            <a:ext cx="8025527" cy="1575078"/>
          </a:xfrm>
          <a:prstGeom prst="roundRect">
            <a:avLst>
              <a:gd name="adj" fmla="val 4261"/>
            </a:avLst>
          </a:prstGeom>
          <a:solidFill>
            <a:srgbClr val="283157"/>
          </a:solidFill>
          <a:ln w="7620">
            <a:solidFill>
              <a:srgbClr val="8C98C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26638" y="6390442"/>
            <a:ext cx="479346" cy="479346"/>
          </a:xfrm>
          <a:prstGeom prst="roundRect">
            <a:avLst>
              <a:gd name="adj" fmla="val 19074083"/>
            </a:avLst>
          </a:prstGeom>
          <a:solidFill>
            <a:srgbClr val="8C98C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41" y="6495336"/>
            <a:ext cx="215622" cy="26955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6638" y="7029569"/>
            <a:ext cx="199739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Nguyễn Viết Ái Nhi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726638" y="7375088"/>
            <a:ext cx="7690723" cy="255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6351071054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035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Lý do chọn đề tài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852493"/>
            <a:ext cx="7556421" cy="1223248"/>
          </a:xfrm>
          <a:prstGeom prst="roundRect">
            <a:avLst>
              <a:gd name="adj" fmla="val 11960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852493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109787"/>
            <a:ext cx="6950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Bệnh tiểu đường ngày càng phổ biến và khó phát hiện sớm.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80190" y="3302556"/>
            <a:ext cx="7556421" cy="1223248"/>
          </a:xfrm>
          <a:prstGeom prst="roundRect">
            <a:avLst>
              <a:gd name="adj" fmla="val 11960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49710" y="3302556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9" name="Text 6"/>
          <p:cNvSpPr/>
          <p:nvPr/>
        </p:nvSpPr>
        <p:spPr>
          <a:xfrm>
            <a:off x="6628924" y="3559850"/>
            <a:ext cx="6950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Việc phân tích dữ liệu y tế giúp hỗ trợ chẩn đoán chính xác hơn.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7556421" cy="1223248"/>
          </a:xfrm>
          <a:prstGeom prst="roundRect">
            <a:avLst>
              <a:gd name="adj" fmla="val 11960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9710" y="4752618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2" name="Text 9"/>
          <p:cNvSpPr/>
          <p:nvPr/>
        </p:nvSpPr>
        <p:spPr>
          <a:xfrm>
            <a:off x="6628924" y="5009912"/>
            <a:ext cx="6950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Áp dụng các thuật toán học máy giúp tự động hóa quá trình dự đoán.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280190" y="6202680"/>
            <a:ext cx="7556421" cy="1223248"/>
          </a:xfrm>
          <a:prstGeom prst="roundRect">
            <a:avLst>
              <a:gd name="adj" fmla="val 11960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49710" y="6202680"/>
            <a:ext cx="121920" cy="1223248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5" name="Text 12"/>
          <p:cNvSpPr/>
          <p:nvPr/>
        </p:nvSpPr>
        <p:spPr>
          <a:xfrm>
            <a:off x="6628924" y="6459974"/>
            <a:ext cx="695039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Đề tài vừa mang ý nghĩa học thuật, vừa có tính ứng dụng thực tiễn cao.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902"/>
            <a:ext cx="68054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Thuật toán Decision Tree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042993"/>
            <a:ext cx="6244709" cy="4441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7400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599521" y="2042993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69041" y="2042993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7" name="Text 4"/>
          <p:cNvSpPr/>
          <p:nvPr/>
        </p:nvSpPr>
        <p:spPr>
          <a:xfrm>
            <a:off x="7948255" y="23002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Cấu trúc Trực quan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48255" y="2881432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Dạng cây quyết định, dễ hiểu và trực quan.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599521" y="3728442"/>
            <a:ext cx="6244709" cy="1458635"/>
          </a:xfrm>
          <a:prstGeom prst="roundRect">
            <a:avLst>
              <a:gd name="adj" fmla="val 10030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69041" y="3728442"/>
            <a:ext cx="121920" cy="1458635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1" name="Text 8"/>
          <p:cNvSpPr/>
          <p:nvPr/>
        </p:nvSpPr>
        <p:spPr>
          <a:xfrm>
            <a:off x="7948255" y="39857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Phân chia Dữ liệu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48255" y="4566880"/>
            <a:ext cx="56386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Chia dữ liệu dựa trên thuộc tính quan trọng nhất.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599521" y="5413891"/>
            <a:ext cx="6244709" cy="1821537"/>
          </a:xfrm>
          <a:prstGeom prst="roundRect">
            <a:avLst>
              <a:gd name="adj" fmla="val 8032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69041" y="5413891"/>
            <a:ext cx="121920" cy="1821537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5" name="Text 12"/>
          <p:cNvSpPr/>
          <p:nvPr/>
        </p:nvSpPr>
        <p:spPr>
          <a:xfrm>
            <a:off x="7948255" y="56711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Dự đoán Kết quả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948255" y="6252329"/>
            <a:ext cx="56386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Kết quả dự đoán tại nút lá (ví dụ: Glucose &gt; 150 → Có nguy cơ tiểu đường).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943" y="536615"/>
            <a:ext cx="5444966" cy="609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Thuật toán Naive Bayes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2943" y="1951077"/>
            <a:ext cx="6394252" cy="1517809"/>
          </a:xfrm>
          <a:prstGeom prst="roundRect">
            <a:avLst>
              <a:gd name="adj" fmla="val 7229"/>
            </a:avLst>
          </a:prstGeom>
          <a:solidFill>
            <a:srgbClr val="080E26"/>
          </a:solidFill>
          <a:ln/>
        </p:spPr>
      </p:sp>
      <p:sp>
        <p:nvSpPr>
          <p:cNvPr id="4" name="Shape 2"/>
          <p:cNvSpPr/>
          <p:nvPr/>
        </p:nvSpPr>
        <p:spPr>
          <a:xfrm>
            <a:off x="682943" y="1928217"/>
            <a:ext cx="6394252" cy="91440"/>
          </a:xfrm>
          <a:prstGeom prst="roundRect">
            <a:avLst>
              <a:gd name="adj" fmla="val 89628"/>
            </a:avLst>
          </a:prstGeom>
          <a:solidFill>
            <a:srgbClr val="8C98CA"/>
          </a:solidFill>
          <a:ln/>
        </p:spPr>
      </p:sp>
      <p:sp>
        <p:nvSpPr>
          <p:cNvPr id="5" name="Shape 3"/>
          <p:cNvSpPr/>
          <p:nvPr/>
        </p:nvSpPr>
        <p:spPr>
          <a:xfrm>
            <a:off x="3587353" y="1658422"/>
            <a:ext cx="585311" cy="585311"/>
          </a:xfrm>
          <a:prstGeom prst="roundRect">
            <a:avLst>
              <a:gd name="adj" fmla="val 156225"/>
            </a:avLst>
          </a:prstGeom>
          <a:solidFill>
            <a:srgbClr val="8C98C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2970" y="1804749"/>
            <a:ext cx="234077" cy="292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0827" y="2438876"/>
            <a:ext cx="2649022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Dựa trên Định lý Bayes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00827" y="2938820"/>
            <a:ext cx="595848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Sử dụng xác suất để phân loại.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2943" y="3956566"/>
            <a:ext cx="6394252" cy="1517809"/>
          </a:xfrm>
          <a:prstGeom prst="roundRect">
            <a:avLst>
              <a:gd name="adj" fmla="val 7229"/>
            </a:avLst>
          </a:prstGeom>
          <a:solidFill>
            <a:srgbClr val="080E26"/>
          </a:solidFill>
          <a:ln/>
        </p:spPr>
      </p:sp>
      <p:sp>
        <p:nvSpPr>
          <p:cNvPr id="10" name="Shape 7"/>
          <p:cNvSpPr/>
          <p:nvPr/>
        </p:nvSpPr>
        <p:spPr>
          <a:xfrm>
            <a:off x="682943" y="3933706"/>
            <a:ext cx="6394252" cy="91440"/>
          </a:xfrm>
          <a:prstGeom prst="roundRect">
            <a:avLst>
              <a:gd name="adj" fmla="val 89628"/>
            </a:avLst>
          </a:prstGeom>
          <a:solidFill>
            <a:srgbClr val="8C98CA"/>
          </a:solidFill>
          <a:ln/>
        </p:spPr>
      </p:sp>
      <p:sp>
        <p:nvSpPr>
          <p:cNvPr id="11" name="Shape 8"/>
          <p:cNvSpPr/>
          <p:nvPr/>
        </p:nvSpPr>
        <p:spPr>
          <a:xfrm>
            <a:off x="3587353" y="3663910"/>
            <a:ext cx="585311" cy="585311"/>
          </a:xfrm>
          <a:prstGeom prst="roundRect">
            <a:avLst>
              <a:gd name="adj" fmla="val 156225"/>
            </a:avLst>
          </a:prstGeom>
          <a:solidFill>
            <a:srgbClr val="8C98C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970" y="3810238"/>
            <a:ext cx="234077" cy="2926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827" y="4444365"/>
            <a:ext cx="2439114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Giả định Độc lập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900827" y="4944308"/>
            <a:ext cx="595848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Các thuộc tính được giả định độc lập với nhau.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2943" y="5962055"/>
            <a:ext cx="6394252" cy="1517809"/>
          </a:xfrm>
          <a:prstGeom prst="roundRect">
            <a:avLst>
              <a:gd name="adj" fmla="val 7229"/>
            </a:avLst>
          </a:prstGeom>
          <a:solidFill>
            <a:srgbClr val="080E26"/>
          </a:solidFill>
          <a:ln/>
        </p:spPr>
      </p:sp>
      <p:sp>
        <p:nvSpPr>
          <p:cNvPr id="16" name="Shape 12"/>
          <p:cNvSpPr/>
          <p:nvPr/>
        </p:nvSpPr>
        <p:spPr>
          <a:xfrm>
            <a:off x="682943" y="5939195"/>
            <a:ext cx="6394252" cy="91440"/>
          </a:xfrm>
          <a:prstGeom prst="roundRect">
            <a:avLst>
              <a:gd name="adj" fmla="val 89628"/>
            </a:avLst>
          </a:prstGeom>
          <a:solidFill>
            <a:srgbClr val="8C98CA"/>
          </a:solidFill>
          <a:ln/>
        </p:spPr>
      </p:sp>
      <p:sp>
        <p:nvSpPr>
          <p:cNvPr id="17" name="Shape 13"/>
          <p:cNvSpPr/>
          <p:nvPr/>
        </p:nvSpPr>
        <p:spPr>
          <a:xfrm>
            <a:off x="3587353" y="5669399"/>
            <a:ext cx="585311" cy="585311"/>
          </a:xfrm>
          <a:prstGeom prst="roundRect">
            <a:avLst>
              <a:gd name="adj" fmla="val 156225"/>
            </a:avLst>
          </a:prstGeom>
          <a:solidFill>
            <a:srgbClr val="8C98C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970" y="5815727"/>
            <a:ext cx="234077" cy="292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827" y="6449854"/>
            <a:ext cx="2439114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Ưu điểm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900827" y="6949797"/>
            <a:ext cx="595848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Nhanh, hiệu quả, đặc biệt với dữ liệu lớn.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826" y="1658422"/>
            <a:ext cx="5268754" cy="20894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60826" y="3967282"/>
            <a:ext cx="6394252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16900"/>
            <a:ext cx="58741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Bộ Dữ liệu và Bài toán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96584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Sử dụng bộ dữ liệu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Diabetes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(768 dòng, 9 cột) từ Kaggle.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0043160" y="2583894"/>
            <a:ext cx="30480" cy="4728805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6" name="Shape 3"/>
          <p:cNvSpPr/>
          <p:nvPr/>
        </p:nvSpPr>
        <p:spPr>
          <a:xfrm>
            <a:off x="9635252" y="2823805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7" name="Shape 4"/>
          <p:cNvSpPr/>
          <p:nvPr/>
        </p:nvSpPr>
        <p:spPr>
          <a:xfrm>
            <a:off x="9973389" y="2754035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8C98CA"/>
          </a:solidFill>
          <a:ln/>
        </p:spPr>
      </p:sp>
      <p:sp>
        <p:nvSpPr>
          <p:cNvPr id="8" name="Text 5"/>
          <p:cNvSpPr/>
          <p:nvPr/>
        </p:nvSpPr>
        <p:spPr>
          <a:xfrm>
            <a:off x="6315908" y="26617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Thuộc tính Đầu vào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80190" y="3152180"/>
            <a:ext cx="287095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Pregnancies, Glucose, BloodPressure, BMI, Age, SkinThickness, Insulin, DiabetesPedigreeFunction.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027920" y="4184690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11" name="Shape 8"/>
          <p:cNvSpPr/>
          <p:nvPr/>
        </p:nvSpPr>
        <p:spPr>
          <a:xfrm>
            <a:off x="9973389" y="4114919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8C98CA"/>
          </a:solidFill>
          <a:ln/>
        </p:spPr>
      </p:sp>
      <p:sp>
        <p:nvSpPr>
          <p:cNvPr id="12" name="Text 9"/>
          <p:cNvSpPr/>
          <p:nvPr/>
        </p:nvSpPr>
        <p:spPr>
          <a:xfrm>
            <a:off x="10965656" y="40226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Nhãn (Outcome)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965656" y="4513064"/>
            <a:ext cx="28709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0 (Không mắc tiểu đường) hoặc 1 (Mắc tiểu đường).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35252" y="5660231"/>
            <a:ext cx="453628" cy="30480"/>
          </a:xfrm>
          <a:prstGeom prst="roundRect">
            <a:avLst>
              <a:gd name="adj" fmla="val 312558"/>
            </a:avLst>
          </a:prstGeom>
          <a:solidFill>
            <a:srgbClr val="414A70"/>
          </a:solidFill>
          <a:ln/>
        </p:spPr>
      </p:sp>
      <p:sp>
        <p:nvSpPr>
          <p:cNvPr id="15" name="Shape 12"/>
          <p:cNvSpPr/>
          <p:nvPr/>
        </p:nvSpPr>
        <p:spPr>
          <a:xfrm>
            <a:off x="9973389" y="5590461"/>
            <a:ext cx="170021" cy="170021"/>
          </a:xfrm>
          <a:prstGeom prst="roundRect">
            <a:avLst>
              <a:gd name="adj" fmla="val 268908"/>
            </a:avLst>
          </a:prstGeom>
          <a:solidFill>
            <a:srgbClr val="8C98CA"/>
          </a:solidFill>
          <a:ln/>
        </p:spPr>
      </p:sp>
      <p:sp>
        <p:nvSpPr>
          <p:cNvPr id="16" name="Text 13"/>
          <p:cNvSpPr/>
          <p:nvPr/>
        </p:nvSpPr>
        <p:spPr>
          <a:xfrm>
            <a:off x="6315908" y="54981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Mục tiêu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280190" y="5988606"/>
            <a:ext cx="28709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Thực hiện Phân loại Nhị phân (Binary Classification).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Tiền xử lý Dữ liệu và Phân chia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Làm sạch Dữ liệu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66950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Loại bỏ giá trị thiếu và chuẩn hóa dữ liệu.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539972"/>
            <a:ext cx="28876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Phân chia Tập dữ liệu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503039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80% cho huấn luyện (train) và 20% cho kiểm thử (test).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900857"/>
            <a:ext cx="2848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Ứng dụng Thuật toán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391275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Áp dụng Decision Tree và Naive Bayes.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4663"/>
            <a:ext cx="66511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 sánh Kết quả Mô hình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70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So sánh hiệu suất của hai mô hình trên tập dữ liệu đã xử lý: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95124"/>
            <a:ext cx="13042821" cy="1966198"/>
          </a:xfrm>
          <a:prstGeom prst="roundRect">
            <a:avLst>
              <a:gd name="adj" fmla="val 484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027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04645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Mô hình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40498" y="304645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Accuracy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304645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Dự đoán mẫu 1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304645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Dự đoán mẫu 2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5530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462" y="36967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Decision Tree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40498" y="369677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82.5%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369677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Có bệnh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369677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Không bệnh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20338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462" y="434709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Naive Bayes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940498" y="434709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81.3%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34709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Có bệnh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434709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Có bệnh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93790" y="5229820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82.5%</a:t>
            </a:r>
            <a:endParaRPr lang="en-US" sz="5850" dirty="0"/>
          </a:p>
        </p:txBody>
      </p:sp>
      <p:sp>
        <p:nvSpPr>
          <p:cNvPr id="21" name="Text 19"/>
          <p:cNvSpPr/>
          <p:nvPr/>
        </p:nvSpPr>
        <p:spPr>
          <a:xfrm>
            <a:off x="2565916" y="62616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5203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Độ chính xác cao nhất.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56884" y="5229820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81.3%</a:t>
            </a:r>
            <a:endParaRPr lang="en-US" sz="5850" dirty="0"/>
          </a:p>
        </p:txBody>
      </p:sp>
      <p:sp>
        <p:nvSpPr>
          <p:cNvPr id="24" name="Text 22"/>
          <p:cNvSpPr/>
          <p:nvPr/>
        </p:nvSpPr>
        <p:spPr>
          <a:xfrm>
            <a:off x="9229130" y="62616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Naive Bayes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56884" y="675203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Hiệu suất tốt, xử lý nhanh.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976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Quy trình Hệ thống Dự đoán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055382"/>
            <a:ext cx="7556421" cy="32585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88659" y="5695950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Đánh giá &amp; Dự đoán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788659" y="4941660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Huấn luyện Mô hình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788659" y="4194988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Tiền xử lý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88659" y="3440697"/>
            <a:ext cx="1714297" cy="21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Dữ liệu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80190" y="65690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38582"/>
            <a:ext cx="58906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Nhận xét và Ứng dụng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087523"/>
            <a:ext cx="3664744" cy="1685092"/>
          </a:xfrm>
          <a:prstGeom prst="roundRect">
            <a:avLst>
              <a:gd name="adj" fmla="val 32306"/>
            </a:avLst>
          </a:prstGeom>
          <a:solidFill>
            <a:srgbClr val="8C98CA"/>
          </a:solidFill>
          <a:ln w="7620">
            <a:solidFill>
              <a:srgbClr val="727EB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321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812375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Dễ hiểu, trực quan, cho độ chính xác cao (82.5%).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087523"/>
            <a:ext cx="3664863" cy="1685092"/>
          </a:xfrm>
          <a:prstGeom prst="roundRect">
            <a:avLst>
              <a:gd name="adj" fmla="val 32306"/>
            </a:avLst>
          </a:prstGeom>
          <a:solidFill>
            <a:srgbClr val="8C98CA"/>
          </a:solidFill>
          <a:ln w="7620">
            <a:solidFill>
              <a:srgbClr val="727E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182" y="2321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Naive Bayes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281237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Xử lý nhanh chóng, phù hợp cho các tập dữ liệu lớn.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3999428"/>
            <a:ext cx="7556421" cy="1685092"/>
          </a:xfrm>
          <a:prstGeom prst="roundRect">
            <a:avLst>
              <a:gd name="adj" fmla="val 32306"/>
            </a:avLst>
          </a:prstGeom>
          <a:solidFill>
            <a:srgbClr val="8C98CA"/>
          </a:solidFill>
          <a:ln w="7620">
            <a:solidFill>
              <a:srgbClr val="727E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42338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Phân loại Nhị phân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4724281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Cả hai thuật toán đều hỗ trợ tốt cho bài toán phân loại nhị phân. 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620351" y="6194822"/>
            <a:ext cx="7216259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💡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Mô hình giúp bác sĩ dự đoán sớm nguy cơ mắc bệnh tiểu đường, hỗ trợ chẩn đoán và can thiệp kịp thời. 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5939671"/>
            <a:ext cx="30480" cy="1251347"/>
          </a:xfrm>
          <a:prstGeom prst="rect">
            <a:avLst/>
          </a:prstGeom>
          <a:solidFill>
            <a:srgbClr val="8C98C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733" y="569357"/>
            <a:ext cx="5176957" cy="64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Tài liệu Tham khảo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4733" y="1630561"/>
            <a:ext cx="1318093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PIMA Indians Diabetes Dataset (Kaggle).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4733" y="2034183"/>
            <a:ext cx="1318093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Data Mining and Machine Learning — Han &amp; Kamber.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4733" y="2437805"/>
            <a:ext cx="1318093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Dữ liệu mô phỏng cho mục đích học tập và nghiên cứu.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353" y="2975372"/>
            <a:ext cx="4278154" cy="427815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123" y="2975372"/>
            <a:ext cx="4278154" cy="427815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893" y="2975372"/>
            <a:ext cx="4278154" cy="42781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4733" y="7697986"/>
            <a:ext cx="6727507" cy="388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Cảm ơn Quý Thầy Cô và các bạn đã lắng nghe!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2025-10-09T05:26:23Z</dcterms:created>
  <dcterms:modified xsi:type="dcterms:W3CDTF">2025-10-09T05:26:23Z</dcterms:modified>
</cp:coreProperties>
</file>